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89320"/>
            <a:ext cx="12161520" cy="8686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89320"/>
            <a:ext cx="12161520" cy="109728"/>
          </a:xfrm>
          <a:prstGeom prst="rect">
            <a:avLst/>
          </a:prstGeom>
          <a:solidFill>
            <a:srgbClr val="C28E0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OGDEN LAND 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OLOS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geospatial land-intelligence platform for land design.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tool for seeing land whole — and building it wisely.”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61447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brief  ·  project planning, development &amp;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8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 design today is fragmented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7040880" cy="1143000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74520"/>
            <a:ext cx="82296" cy="1143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85416"/>
            <a:ext cx="530352" cy="53035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854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03911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Siloed tools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240487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for mapping, spreadsheets for budgets, separate software for layouts, paper for field notes.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7040880" cy="1143000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246120"/>
            <a:ext cx="82296" cy="1143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3557016"/>
            <a:ext cx="530352" cy="53035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57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341071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Lost context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377647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carries the site itself across the journey — context drops at every handoff.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7040880" cy="1143000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4617720"/>
            <a:ext cx="82296" cy="1143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4928616"/>
            <a:ext cx="530352" cy="53035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9286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91640" y="478231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Broken thread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91640" y="514807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→ design → build → monitor are disconnected, so insight never compounds.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092440" y="1874520"/>
            <a:ext cx="3429000" cy="3840480"/>
          </a:xfrm>
          <a:prstGeom prst="rect">
            <a:avLst/>
          </a:prstGeom>
          <a:solidFill>
            <a:srgbClr val="1C3320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92440" y="1874520"/>
            <a:ext cx="3429000" cy="109728"/>
          </a:xfrm>
          <a:prstGeom prst="rect">
            <a:avLst/>
          </a:prstGeom>
          <a:solidFill>
            <a:srgbClr val="C28E0E"/>
          </a:solidFill>
          <a:ln/>
        </p:spPr>
      </p:sp>
      <p:sp>
        <p:nvSpPr>
          <p:cNvPr id="24" name="Text 22"/>
          <p:cNvSpPr/>
          <p:nvPr/>
        </p:nvSpPr>
        <p:spPr>
          <a:xfrm>
            <a:off x="8366760" y="2651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OLOS keeps one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thread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366760" y="3703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land. Same data. Same plan — followed from first survey to long-term stewardship.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8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Stewardship-conscious land designers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1234440"/>
          </a:xfrm>
          <a:prstGeom prst="rect">
            <a:avLst/>
          </a:prstGeom>
          <a:solidFill>
            <a:srgbClr val="E8EFE3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35000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1488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Regenerative agriculture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325112" y="1965960"/>
            <a:ext cx="3520440" cy="1234440"/>
          </a:xfrm>
          <a:prstGeom prst="rect">
            <a:avLst/>
          </a:prstGeom>
          <a:solidFill>
            <a:srgbClr val="E8EFE3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81144" y="235000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4581144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93792" y="21488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Permaculture design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010144" y="1965960"/>
            <a:ext cx="3520440" cy="1234440"/>
          </a:xfrm>
          <a:prstGeom prst="rect">
            <a:avLst/>
          </a:prstGeom>
          <a:solidFill>
            <a:srgbClr val="E8EFE3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66176" y="235000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8266176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78824" y="21488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Conservation projects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40080" y="3364992"/>
            <a:ext cx="3520440" cy="1234440"/>
          </a:xfrm>
          <a:prstGeom prst="rect">
            <a:avLst/>
          </a:prstGeom>
          <a:solidFill>
            <a:srgbClr val="E8EFE3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" y="37490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354787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Intentional communities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4325112" y="3364992"/>
            <a:ext cx="3520440" cy="1234440"/>
          </a:xfrm>
          <a:prstGeom prst="rect">
            <a:avLst/>
          </a:prstGeom>
          <a:solidFill>
            <a:srgbClr val="E8EFE3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81144" y="37490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4581144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93792" y="354787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Homesteads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8010144" y="3364992"/>
            <a:ext cx="3520440" cy="1234440"/>
          </a:xfrm>
          <a:prstGeom prst="rect">
            <a:avLst/>
          </a:prstGeom>
          <a:solidFill>
            <a:srgbClr val="E8EFE3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66176" y="37490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8266176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878824" y="354787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Agritourism &amp; retreat centers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type foregrounds the factors that matter most — without ever hiding the rest.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8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 —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Universal domains of stewardship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land project is understood through the same recurring areas. The land imposes these — they are fields of stewardship, not software modules.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670048" cy="6583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46888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19856" y="2468880"/>
            <a:ext cx="2670048" cy="6583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3584448" y="246888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9632" y="2468880"/>
            <a:ext cx="2670048" cy="6583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364224" y="246888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Topography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79408" y="2468880"/>
            <a:ext cx="2670048" cy="6583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0" y="246888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236976"/>
            <a:ext cx="2670048" cy="658368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236976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19856" y="3236976"/>
            <a:ext cx="2670048" cy="658368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16" name="Text 14"/>
          <p:cNvSpPr/>
          <p:nvPr/>
        </p:nvSpPr>
        <p:spPr>
          <a:xfrm>
            <a:off x="3584448" y="3236976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99632" y="3236976"/>
            <a:ext cx="2670048" cy="658368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18" name="Text 16"/>
          <p:cNvSpPr/>
          <p:nvPr/>
        </p:nvSpPr>
        <p:spPr>
          <a:xfrm>
            <a:off x="6364224" y="3236976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979408" y="3236976"/>
            <a:ext cx="2670048" cy="658368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0" y="3236976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005072"/>
            <a:ext cx="2670048" cy="6583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005072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19856" y="4005072"/>
            <a:ext cx="2670048" cy="6583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3584448" y="4005072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 flows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99632" y="4005072"/>
            <a:ext cx="2670048" cy="6583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6364224" y="4005072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governance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979408" y="4005072"/>
            <a:ext cx="2670048" cy="6583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0" y="4005072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4773168"/>
            <a:ext cx="2670048" cy="658368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" y="4773168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419856" y="4773168"/>
            <a:ext cx="2670048" cy="658368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32" name="Text 30"/>
          <p:cNvSpPr/>
          <p:nvPr/>
        </p:nvSpPr>
        <p:spPr>
          <a:xfrm>
            <a:off x="3584448" y="4773168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199632" y="4773168"/>
            <a:ext cx="2670048" cy="658368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34" name="Text 32"/>
          <p:cNvSpPr/>
          <p:nvPr/>
        </p:nvSpPr>
        <p:spPr>
          <a:xfrm>
            <a:off x="6364224" y="4773168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979408" y="4773168"/>
            <a:ext cx="2670048" cy="658368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0" y="4773168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base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8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 —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domain, three verbs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 stays constant across the lifecycle; only the verb changes.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2331720"/>
            <a:ext cx="3383280" cy="2331720"/>
          </a:xfrm>
          <a:prstGeom prst="rect">
            <a:avLst/>
          </a:prstGeom>
          <a:solidFill>
            <a:srgbClr val="1C3320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31720"/>
            <a:ext cx="3383280" cy="91440"/>
          </a:xfrm>
          <a:prstGeom prst="rect">
            <a:avLst/>
          </a:prstGeom>
          <a:solidFill>
            <a:srgbClr val="C28E0E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651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3246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what is happening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43000" y="38862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· </a:t>
            </a:r>
            <a:pPr indent="0" marL="0">
              <a:buNone/>
            </a:pPr>
            <a:r>
              <a:rPr lang="en-US" sz="1250" i="1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runoff, wells, flood risk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288536" y="31318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FA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754880" y="2331720"/>
            <a:ext cx="3383280" cy="2331720"/>
          </a:xfrm>
          <a:prstGeom prst="rect">
            <a:avLst/>
          </a:prstGeom>
          <a:solidFill>
            <a:srgbClr val="1C3320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331720"/>
            <a:ext cx="3383280" cy="91440"/>
          </a:xfrm>
          <a:prstGeom prst="rect">
            <a:avLst/>
          </a:prstGeom>
          <a:solidFill>
            <a:srgbClr val="C28E0E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651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29200" y="3246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should happen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029200" y="38862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· </a:t>
            </a:r>
            <a:pPr indent="0" marL="0">
              <a:buNone/>
            </a:pPr>
            <a:r>
              <a:rPr lang="en-US" sz="1250" i="1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ponds, swales, irrigation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174736" y="31318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FA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8641080" y="2331720"/>
            <a:ext cx="3383280" cy="2331720"/>
          </a:xfrm>
          <a:prstGeom prst="rect">
            <a:avLst/>
          </a:prstGeom>
          <a:solidFill>
            <a:srgbClr val="1C3320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41080" y="2331720"/>
            <a:ext cx="3383280" cy="91440"/>
          </a:xfrm>
          <a:prstGeom prst="rect">
            <a:avLst/>
          </a:prstGeom>
          <a:solidFill>
            <a:srgbClr val="C28E0E"/>
          </a:solidFill>
          <a:ln/>
        </p:spPr>
      </p:sp>
      <p:sp>
        <p:nvSpPr>
          <p:cNvPr id="19" name="Text 17"/>
          <p:cNvSpPr/>
          <p:nvPr/>
        </p:nvSpPr>
        <p:spPr>
          <a:xfrm>
            <a:off x="8915400" y="2651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915400" y="3246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Execute, verify, maintain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915400" y="38862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· </a:t>
            </a:r>
            <a:pPr indent="0" marL="0">
              <a:buNone/>
            </a:pPr>
            <a:r>
              <a:rPr lang="en-US" sz="1250" i="1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swales, install tanks, monitor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→ Plan → Act is the backbone of the whole app. Report is a sibling output, not a stage.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8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Site Intelligence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657600" cy="3749040"/>
          </a:xfrm>
          <a:prstGeom prst="rect">
            <a:avLst/>
          </a:prstGeom>
          <a:solidFill>
            <a:srgbClr val="1C3320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3657600" cy="1097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688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Largely complete.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 property in and see it whole.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2212848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2103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mapping fed by public GIS data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4754880" y="3054096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294436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assessment scoring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4754880" y="3895344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378561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&amp; elevation analysis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4754880" y="4736592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462686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Climate, hydrology &amp; ecological dashboards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8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Design Atlas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657600" cy="3749040"/>
          </a:xfrm>
          <a:prstGeom prst="rect">
            <a:avLst/>
          </a:prstGeom>
          <a:solidFill>
            <a:srgbClr val="1C3320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3657600" cy="109728"/>
          </a:xfrm>
          <a:prstGeom prst="rect">
            <a:avLst/>
          </a:prstGeom>
          <a:solidFill>
            <a:srgbClr val="7FA65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688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progress.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assessment into a costed, actionable design.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2212848"/>
            <a:ext cx="201168" cy="201168"/>
          </a:xfrm>
          <a:prstGeom prst="ellipse">
            <a:avLst/>
          </a:prstGeom>
          <a:solidFill>
            <a:srgbClr val="7FA653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2103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planting tools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4754880" y="3054096"/>
            <a:ext cx="201168" cy="201168"/>
          </a:xfrm>
          <a:prstGeom prst="ellipse">
            <a:avLst/>
          </a:prstGeom>
          <a:solidFill>
            <a:srgbClr val="7FA653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294436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Nursery ledger and forest hub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4754880" y="3895344"/>
            <a:ext cx="201168" cy="201168"/>
          </a:xfrm>
          <a:prstGeom prst="ellipse">
            <a:avLst/>
          </a:prstGeom>
          <a:solidFill>
            <a:srgbClr val="7FA653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378561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Phasing and labor planning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4754880" y="4736592"/>
            <a:ext cx="201168" cy="201168"/>
          </a:xfrm>
          <a:prstGeom prst="ellipse">
            <a:avLst/>
          </a:prstGeom>
          <a:solidFill>
            <a:srgbClr val="7FA653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462686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and financial modeling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8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Phases 3 &amp; 4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3749040"/>
          </a:xfrm>
          <a:prstGeom prst="rect">
            <a:avLst/>
          </a:prstGeom>
          <a:solidFill>
            <a:srgbClr val="E8EFE3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65960"/>
            <a:ext cx="52578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402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P3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377440" y="23042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Collaboration + AI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37744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8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3493008"/>
            <a:ext cx="182880" cy="182880"/>
          </a:xfrm>
          <a:prstGeom prst="ellipse">
            <a:avLst/>
          </a:prstGeom>
          <a:solidFill>
            <a:srgbClr val="7FA653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3355848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collaboration, comments, role-based access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005840" y="4361688"/>
            <a:ext cx="182880" cy="182880"/>
          </a:xfrm>
          <a:prstGeom prst="ellipse">
            <a:avLst/>
          </a:prstGeom>
          <a:solidFill>
            <a:srgbClr val="7FA653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4224528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design and analysis (gated)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63640" y="1965960"/>
            <a:ext cx="5257800" cy="3749040"/>
          </a:xfrm>
          <a:prstGeom prst="rect">
            <a:avLst/>
          </a:prstGeom>
          <a:solidFill>
            <a:srgbClr val="E8EFE3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965960"/>
            <a:ext cx="52578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2402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P4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001000" y="23042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+ Portal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00100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8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29400" y="3493008"/>
            <a:ext cx="182880" cy="182880"/>
          </a:xfrm>
          <a:prstGeom prst="ellipse">
            <a:avLst/>
          </a:prstGeom>
          <a:solidFill>
            <a:srgbClr val="7FA653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3355848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portal pages &amp; narrative ‘story scenes’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629400" y="4361688"/>
            <a:ext cx="182880" cy="182880"/>
          </a:xfrm>
          <a:prstGeom prst="ellipse">
            <a:avLst/>
          </a:prstGeom>
          <a:solidFill>
            <a:srgbClr val="7FA653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4224528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embedded maps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8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technology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TypeScript monorepo (pnpm + Turborepo): web · api · shared.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46888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317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08960" y="2331720"/>
            <a:ext cx="8412480" cy="731520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2331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TypeScript · Vite · Zustand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3172968"/>
            <a:ext cx="246888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7296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08960" y="3172968"/>
            <a:ext cx="8412480" cy="731520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31729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MapLibre GL JS (2D) + CesiumJS (3D)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014216"/>
            <a:ext cx="246888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1421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108960" y="4014216"/>
            <a:ext cx="8412480" cy="731520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4014216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Fastify + Node.js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4855464"/>
            <a:ext cx="246888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85546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108960" y="4855464"/>
            <a:ext cx="8412480" cy="731520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4855464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PostGIS · BullMQ + Redis · Supabase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Manifest-driven modules, phase-gated rollout. Data layer is country-agnostic; tuned first for Ontario, Canada.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8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stands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108960" y="2075688"/>
            <a:ext cx="6583680" cy="384048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6" name="Shape 4"/>
          <p:cNvSpPr/>
          <p:nvPr/>
        </p:nvSpPr>
        <p:spPr>
          <a:xfrm>
            <a:off x="3108960" y="2075688"/>
            <a:ext cx="6583680" cy="38404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253288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Feature-complete · usable for real site analysis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08960" y="3035808"/>
            <a:ext cx="6583680" cy="384048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10" name="Shape 8"/>
          <p:cNvSpPr/>
          <p:nvPr/>
        </p:nvSpPr>
        <p:spPr>
          <a:xfrm>
            <a:off x="3108960" y="3035808"/>
            <a:ext cx="4608576" cy="384048"/>
          </a:xfrm>
          <a:prstGeom prst="rect">
            <a:avLst/>
          </a:prstGeom>
          <a:solidFill>
            <a:srgbClr val="7FA653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349300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along · core design &amp; modeling built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108960" y="3995928"/>
            <a:ext cx="6583680" cy="384048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14" name="Shape 12"/>
          <p:cNvSpPr/>
          <p:nvPr/>
        </p:nvSpPr>
        <p:spPr>
          <a:xfrm>
            <a:off x="3108960" y="3995928"/>
            <a:ext cx="2633472" cy="3840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3108960" y="445312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· collaboration scaffolded, AI gated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846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108960" y="4956048"/>
            <a:ext cx="6583680" cy="384048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18" name="Shape 16"/>
          <p:cNvSpPr/>
          <p:nvPr/>
        </p:nvSpPr>
        <p:spPr>
          <a:xfrm>
            <a:off x="3108960" y="4956048"/>
            <a:ext cx="987552" cy="384048"/>
          </a:xfrm>
          <a:prstGeom prst="rect">
            <a:avLst/>
          </a:prstGeom>
          <a:solidFill>
            <a:srgbClr val="9AA89B"/>
          </a:solidFill>
          <a:ln/>
        </p:spPr>
      </p:sp>
      <p:sp>
        <p:nvSpPr>
          <p:cNvPr id="19" name="Text 17"/>
          <p:cNvSpPr/>
          <p:nvPr/>
        </p:nvSpPr>
        <p:spPr>
          <a:xfrm>
            <a:off x="3108960" y="541324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stubbed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897880"/>
            <a:ext cx="10881360" cy="640080"/>
          </a:xfrm>
          <a:prstGeom prst="rect">
            <a:avLst/>
          </a:prstGeom>
          <a:solidFill>
            <a:srgbClr val="1C3320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897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 very small team. Past prototype, not yet production-hardened — no external SSO yet; multi-tenant scaling unproven.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3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828800"/>
            <a:ext cx="128016" cy="3108960"/>
          </a:xfrm>
          <a:prstGeom prst="rect">
            <a:avLst/>
          </a:prstGeom>
          <a:solidFill>
            <a:srgbClr val="C28E0E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ETHOS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88720" y="1965960"/>
            <a:ext cx="9875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as a faithful steward of the user's relationship to their land.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88720" y="38862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value shapes priorities — coherence, honesty about the land's constraints, long-term care. The product itself is a general-purpose land design tool.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8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seeking from you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57800" cy="1600200"/>
          </a:xfrm>
          <a:prstGeom prst="rect">
            <a:avLst/>
          </a:prstGeom>
          <a:solidFill>
            <a:srgbClr val="E8EFE3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11680"/>
            <a:ext cx="82296" cy="1600200"/>
          </a:xfrm>
          <a:prstGeom prst="rect">
            <a:avLst/>
          </a:prstGeom>
          <a:solidFill>
            <a:srgbClr val="C28E0E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51460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2677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&amp; scope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272491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small team — what to finish, defer, or cut for a credible first pilot?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2011680"/>
            <a:ext cx="5257800" cy="1600200"/>
          </a:xfrm>
          <a:prstGeom prst="rect">
            <a:avLst/>
          </a:prstGeom>
          <a:solidFill>
            <a:srgbClr val="E8EFE3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2011680"/>
            <a:ext cx="82296" cy="1600200"/>
          </a:xfrm>
          <a:prstGeom prst="rect">
            <a:avLst/>
          </a:prstGeom>
          <a:solidFill>
            <a:srgbClr val="C28E0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56248" y="251460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556248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0" y="22677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to production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0" y="272491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harden first: auth / SSO, multi-tenancy, reliability.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5257800" cy="1600200"/>
          </a:xfrm>
          <a:prstGeom prst="rect">
            <a:avLst/>
          </a:prstGeom>
          <a:solidFill>
            <a:srgbClr val="E8EFE3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840480"/>
            <a:ext cx="82296" cy="1600200"/>
          </a:xfrm>
          <a:prstGeom prst="rect">
            <a:avLst/>
          </a:prstGeom>
          <a:solidFill>
            <a:srgbClr val="C28E0E"/>
          </a:solidFill>
          <a:ln/>
        </p:spPr>
      </p:sp>
      <p:sp>
        <p:nvSpPr>
          <p:cNvPr id="18" name="Shape 16"/>
          <p:cNvSpPr/>
          <p:nvPr/>
        </p:nvSpPr>
        <p:spPr>
          <a:xfrm>
            <a:off x="932688" y="434340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91640" y="40965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&amp; process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91640" y="455371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four parallel phases without overcommitting.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63640" y="3840480"/>
            <a:ext cx="5257800" cy="1600200"/>
          </a:xfrm>
          <a:prstGeom prst="rect">
            <a:avLst/>
          </a:prstGeom>
          <a:solidFill>
            <a:srgbClr val="E8EFE3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3840480"/>
            <a:ext cx="82296" cy="1600200"/>
          </a:xfrm>
          <a:prstGeom prst="rect">
            <a:avLst/>
          </a:prstGeom>
          <a:solidFill>
            <a:srgbClr val="C28E0E"/>
          </a:solidFill>
          <a:ln/>
        </p:spPr>
      </p:sp>
      <p:sp>
        <p:nvSpPr>
          <p:cNvPr id="24" name="Shape 22"/>
          <p:cNvSpPr/>
          <p:nvPr/>
        </p:nvSpPr>
        <p:spPr>
          <a:xfrm>
            <a:off x="6556248" y="434340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6556248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5200" y="40965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15200" y="455371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early pilots to learn fastest with the least build.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3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C28E0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OLOS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7724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Seeing land whole — and building it wisely.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4297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atlas.ogden.ag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OLOS — Consultation Deck</dc:title>
  <dc:subject>PptxGenJS Presentation</dc:subject>
  <dc:creator>OGDEN / OLOS</dc:creator>
  <cp:lastModifiedBy>OGDEN / OLOS</cp:lastModifiedBy>
  <cp:revision>1</cp:revision>
  <dcterms:created xsi:type="dcterms:W3CDTF">2026-06-03T01:54:50Z</dcterms:created>
  <dcterms:modified xsi:type="dcterms:W3CDTF">2026-06-03T01:54:50Z</dcterms:modified>
</cp:coreProperties>
</file>